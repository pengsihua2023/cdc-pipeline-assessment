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38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Species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TaxProfiler</c:v>
                </c:pt>
                <c:pt idx="1">
                  <c:v>TaxTriage</c:v>
                </c:pt>
                <c:pt idx="2">
                  <c:v>CLARK</c:v>
                </c:pt>
                <c:pt idx="3">
                  <c:v>GOTTCHA2</c:v>
                </c:pt>
                <c:pt idx="4">
                  <c:v>sourmash
(prok)</c:v>
                </c:pt>
                <c:pt idx="5">
                  <c:v>KrakenMeta
(SPAdes)</c:v>
                </c:pt>
                <c:pt idx="6">
                  <c:v>mag-nf
(SPAdes)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5312</c:v>
                </c:pt>
                <c:pt idx="1">
                  <c:v>5312</c:v>
                </c:pt>
                <c:pt idx="2">
                  <c:v>2082</c:v>
                </c:pt>
                <c:pt idx="3">
                  <c:v>356</c:v>
                </c:pt>
                <c:pt idx="4">
                  <c:v>5061</c:v>
                </c:pt>
                <c:pt idx="5">
                  <c:v>1386</c:v>
                </c:pt>
                <c:pt idx="6">
                  <c:v>2564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E7-478E-9E56-8EB4224F7C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Species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TaxProfiler</c:v>
                </c:pt>
                <c:pt idx="1">
                  <c:v>TaxTriage</c:v>
                </c:pt>
                <c:pt idx="2">
                  <c:v>CLARK</c:v>
                </c:pt>
                <c:pt idx="3">
                  <c:v>GOTTCHA2</c:v>
                </c:pt>
                <c:pt idx="4">
                  <c:v>sourmash
(prok)</c:v>
                </c:pt>
                <c:pt idx="5">
                  <c:v>KrakenMeta
(Flye)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1672</c:v>
                </c:pt>
                <c:pt idx="1">
                  <c:v>1676</c:v>
                </c:pt>
                <c:pt idx="2">
                  <c:v>2945</c:v>
                </c:pt>
                <c:pt idx="3">
                  <c:v>271</c:v>
                </c:pt>
                <c:pt idx="4">
                  <c:v>471</c:v>
                </c:pt>
                <c:pt idx="5">
                  <c:v>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AD-47CD-96F9-B6183E25B7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40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801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65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E381B-D176-4EBF-8F36-A691C0D1A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1" cy="2387600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0DDA73-2028-4599-AD03-CCE4B3F7C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1" cy="1655763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E051F-4E25-48E3-9787-15175B375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EA82-A78C-4F1B-BA07-47801BC3B6A8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D6A24-1F1B-4EFA-8D59-925989FAB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804B8-986D-4984-B77C-18D77A12F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0F9F0-0909-49E6-A2B2-017422548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6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E1DDD7-7BC5-411C-B8AD-4D022F29E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7146" y="4582216"/>
            <a:ext cx="9121378" cy="962527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Sihua Peng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07/01/2026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AD9976-AA7A-4DF1-9FEC-6A67AED807B3}"/>
              </a:ext>
            </a:extLst>
          </p:cNvPr>
          <p:cNvGrpSpPr/>
          <p:nvPr/>
        </p:nvGrpSpPr>
        <p:grpSpPr>
          <a:xfrm>
            <a:off x="493613" y="197741"/>
            <a:ext cx="5484092" cy="1264121"/>
            <a:chOff x="248902" y="182402"/>
            <a:chExt cx="5497693" cy="1267256"/>
          </a:xfrm>
        </p:grpSpPr>
        <p:pic>
          <p:nvPicPr>
            <p:cNvPr id="5" name="Picture 4" descr="A logo with text on it&#10;&#10;Description automatically generated">
              <a:extLst>
                <a:ext uri="{FF2B5EF4-FFF2-40B4-BE49-F238E27FC236}">
                  <a16:creationId xmlns:a16="http://schemas.microsoft.com/office/drawing/2014/main" id="{CFA8675E-E8C3-422C-899D-46A748D26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53492" y="182402"/>
              <a:ext cx="2093103" cy="126725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D281C82-097B-4234-8AF1-3FED1CAF9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902" y="319166"/>
              <a:ext cx="3350813" cy="1130492"/>
            </a:xfrm>
            <a:prstGeom prst="rect">
              <a:avLst/>
            </a:prstGeom>
          </p:spPr>
        </p:pic>
      </p:grpSp>
      <p:sp>
        <p:nvSpPr>
          <p:cNvPr id="7" name="Text 9">
            <a:extLst>
              <a:ext uri="{FF2B5EF4-FFF2-40B4-BE49-F238E27FC236}">
                <a16:creationId xmlns:a16="http://schemas.microsoft.com/office/drawing/2014/main" id="{38504109-8EEF-4F10-BD32-C43A71260FC7}"/>
              </a:ext>
            </a:extLst>
          </p:cNvPr>
          <p:cNvSpPr/>
          <p:nvPr/>
        </p:nvSpPr>
        <p:spPr>
          <a:xfrm>
            <a:off x="2360786" y="1893003"/>
            <a:ext cx="6541342" cy="13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400"/>
              </a:lnSpc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Benchmarking 7 Pipelines across</a:t>
            </a:r>
            <a:endParaRPr lang="en-US" sz="2800" dirty="0"/>
          </a:p>
          <a:p>
            <a:pPr>
              <a:lnSpc>
                <a:spcPts val="4400"/>
              </a:lnSpc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Illumina &amp; Nanopore Sequencing</a:t>
            </a:r>
            <a:endParaRPr lang="en-US" sz="28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0AC14F56-1685-4268-9C9F-06AC9AE8AFE0}"/>
              </a:ext>
            </a:extLst>
          </p:cNvPr>
          <p:cNvSpPr/>
          <p:nvPr/>
        </p:nvSpPr>
        <p:spPr>
          <a:xfrm>
            <a:off x="2104557" y="3601482"/>
            <a:ext cx="6945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cross-pipeline, cross-platform comparison on the CDC wastewater-type sample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09170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analyzed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blurRad="101600" dist="38100" dir="8100000" algn="bl" rotWithShape="0">
              <a:srgbClr val="7A94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3566160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82980" y="2077753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SAMPLE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2624328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simulated community</a:t>
            </a:r>
          </a:p>
          <a:p>
            <a:pPr marL="0" indent="0">
              <a:lnSpc>
                <a:spcPts val="2000"/>
              </a:lnSpc>
              <a:buNone/>
            </a:pPr>
            <a:endParaRPr lang="en-US" sz="1400" dirty="0"/>
          </a:p>
          <a:p>
            <a:r>
              <a:rPr lang="en-US" sz="1400" dirty="0"/>
              <a:t>Illumina: Illumina_llnl_66ce4dde_R1.fastq.gz，Illumina_llnl_66ce4dde_R2.fastq.gz</a:t>
            </a:r>
          </a:p>
          <a:p>
            <a:endParaRPr lang="en-US" sz="1400" dirty="0"/>
          </a:p>
          <a:p>
            <a:r>
              <a:rPr lang="en-US" sz="1400" dirty="0"/>
              <a:t>Nanopore: Nanopore_llnl_66d1047e.fastq.gz</a:t>
            </a:r>
          </a:p>
        </p:txBody>
      </p:sp>
      <p:sp>
        <p:nvSpPr>
          <p:cNvPr id="8" name="Shape 6"/>
          <p:cNvSpPr/>
          <p:nvPr/>
        </p:nvSpPr>
        <p:spPr>
          <a:xfrm>
            <a:off x="4480560" y="187452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blurRad="101600" dist="38100" dir="8100000" algn="bl" rotWithShape="0">
              <a:srgbClr val="7A94A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874520"/>
            <a:ext cx="3566160" cy="12801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PLATFORMS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0060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short reads (~5.0M)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Nanopore long reads (~0.23M)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187452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  <a:effectLst>
            <a:outerShdw blurRad="101600" dist="38100" dir="8100000" algn="bl" rotWithShape="0">
              <a:srgbClr val="7A94A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874520"/>
            <a:ext cx="3566160" cy="128016"/>
          </a:xfrm>
          <a:prstGeom prst="rect">
            <a:avLst/>
          </a:prstGeom>
          <a:solidFill>
            <a:srgbClr val="E9A33B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PIPELINES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64108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TaxProfiler · TaxTriage · CLARK ·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GOTTCHA2 · sourmash ·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KrakenMetaReads-nf · nf-core/mag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determine how sequencing platform and classification method affect what you detect — especially the rare viral signal.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classification pipelines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4023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level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TaxProfiler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read-level k-mer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Kraken2 (+Bracken)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TaxTriage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read-level k-mer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Kraken2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read-level k-mer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CLARK (k=20)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GOTTCHA2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GOTTCHA2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sourmash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FracMinHash gather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sourmash (k=31)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/ contigs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KrakenMetaReads-nf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+ k-mer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MEGAHIT/SPAdes/Flye → Kraken2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nf-core/mag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+ k-mer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MEGAHIT/SPAdes → Kraken2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to classify a metagenome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28016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1214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94767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Read-level k-mer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77840" y="19202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read by k-mer matches. 1–2 reads enough to call a taxon.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46920" y="19202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sensitive to rare taxa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44368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44368"/>
            <a:ext cx="128016" cy="960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3236976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063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FracMinHash (sourmash)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77840" y="30358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reads/contigs, gather against DB. Dedicated viral gather possible.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46920" y="30358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sensitivity, lineage-based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059936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59936"/>
            <a:ext cx="128016" cy="960120"/>
          </a:xfrm>
          <a:prstGeom prst="rect">
            <a:avLst/>
          </a:prstGeom>
          <a:solidFill>
            <a:srgbClr val="E9A33B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4352544"/>
            <a:ext cx="384048" cy="384048"/>
          </a:xfrm>
          <a:prstGeom prst="ellipse">
            <a:avLst/>
          </a:prstGeom>
          <a:solidFill>
            <a:srgbClr val="E9A33B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1788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 coverage (GOTTCHA2)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77840" y="415137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taxon only if reads cover its unique signature region.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46920" y="415137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/ high precision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175504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175504"/>
            <a:ext cx="128016" cy="9601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7" name="Shape 25"/>
          <p:cNvSpPr/>
          <p:nvPr/>
        </p:nvSpPr>
        <p:spPr>
          <a:xfrm>
            <a:off x="960120" y="5468112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4480" y="529437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Assembly-based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77840" y="526694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reads into contigs, then classify contigs.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646920" y="5266944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sensitive to rare taxa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 ·  ~5.0M READS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Species detected per pipeline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828800"/>
          <a:ext cx="76809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2011680"/>
            <a:ext cx="2880360" cy="41148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&gt;&gt; CONTIGS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915400" y="2880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5,312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915400" y="3703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by read-level Kraken2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15400" y="4343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~420–1,386 for contig-level assembly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15400" y="5257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 Bacteria in all pipelines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 ·  VIRUS SIGNAL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Viruses: present but at the detection limit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040880" cy="621792"/>
          </a:xfrm>
          <a:prstGeom prst="rect">
            <a:avLst/>
          </a:prstGeom>
          <a:solidFill>
            <a:srgbClr val="E9F1F7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66544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82880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TaxProfiler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82880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read-level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82880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reads / 6 species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704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816352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5786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TaxTriage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57860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read-level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257860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reads / 6 species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7040880" cy="621792"/>
          </a:xfrm>
          <a:prstGeom prst="rect">
            <a:avLst/>
          </a:prstGeom>
          <a:solidFill>
            <a:srgbClr val="E9F1F7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56616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32841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sourmash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332841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FracMinHash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32841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viral species (0.04%)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78224"/>
            <a:ext cx="704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315968"/>
            <a:ext cx="146304" cy="146304"/>
          </a:xfrm>
          <a:prstGeom prst="ellipse">
            <a:avLst/>
          </a:prstGeom>
          <a:solidFill>
            <a:srgbClr val="E9A33B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407822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407822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read-level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407822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9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taxa (1 read each)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28032"/>
            <a:ext cx="7040880" cy="621792"/>
          </a:xfrm>
          <a:prstGeom prst="rect">
            <a:avLst/>
          </a:prstGeom>
          <a:solidFill>
            <a:srgbClr val="E9F1F7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065776"/>
            <a:ext cx="146304" cy="14630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48280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GOTTCHA2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0" y="482803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0" y="482803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577840"/>
            <a:ext cx="704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5815584"/>
            <a:ext cx="146304" cy="14630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557784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KrakenMetaReads / mag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0" y="55778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52160" y="55778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046720" y="1828800"/>
            <a:ext cx="3520440" cy="4480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21040" y="2606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— not the database — decides whether you see the virus.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8321040" y="39319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has only ~7 viral reads in ~5M. Read-level k-mer &amp; sourmash surface it; signature &amp; assembly methods miss it entirely.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 · 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Illumina — 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762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9842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Consensus community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52160" y="198424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pipelines agree: ~99% Bacteria. Same dominant species recur (J. porci, M. ossetica, C. coniformis, …).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10881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346704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Same-method tools validate each other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52160" y="3154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TaxProfiler ≈ TaxTriage (identical). KrakenMetaReads ≈ nf-core/mag.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15384"/>
            <a:ext cx="10881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517136"/>
            <a:ext cx="457200" cy="457200"/>
          </a:xfrm>
          <a:prstGeom prst="ellipse">
            <a:avLst/>
          </a:prstGeom>
          <a:solidFill>
            <a:srgbClr val="E9A33B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43251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Read-level &gt; contig-level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852160" y="432511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species (reads) vs hundreds (contigs) — rare taxa never assemble.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85816"/>
            <a:ext cx="10881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68756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1600200" y="549554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GOTTCHA2 low count is by design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52160" y="549554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 sp / 0 virus despite a DB with ~13k viruses — conservative signature threshold.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NANOPORE  ·  ~0.23M READS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Species detected per pipeline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828800"/>
          <a:ext cx="76809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2011680"/>
            <a:ext cx="2880360" cy="4114800"/>
          </a:xfrm>
          <a:prstGeom prst="rect">
            <a:avLst/>
          </a:prstGeom>
          <a:solidFill>
            <a:srgbClr val="13405C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9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91540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nf-core/mag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915400" y="34747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process Nanopore data (short-read only) — 6 pipelines, not 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915400" y="49377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highest — but unfiltered (lower-confidence tail).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NANOPORE  ·  VIRUS SIGNAL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Viruses: essentially undetectable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937760" cy="42976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914400" y="44348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reads by read-level Kraken2</a:t>
            </a:r>
            <a:endParaRPr lang="en-US" sz="15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(TaxProfiler &amp; TaxTriage)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965960"/>
            <a:ext cx="5669280" cy="658368"/>
          </a:xfrm>
          <a:prstGeom prst="rect">
            <a:avLst/>
          </a:prstGeom>
          <a:solidFill>
            <a:srgbClr val="E9F1F7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2221992"/>
            <a:ext cx="146304" cy="14630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9659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TaxProfiler / TaxTriage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0" y="19659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2752344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3008376"/>
            <a:ext cx="146304" cy="14630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75234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GOTTCHA2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0" y="27523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3538728"/>
            <a:ext cx="5669280" cy="658368"/>
          </a:xfrm>
          <a:prstGeom prst="rect">
            <a:avLst/>
          </a:prstGeom>
          <a:solidFill>
            <a:srgbClr val="E9F1F7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3794760"/>
            <a:ext cx="146304" cy="14630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53872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KrakenMetaReads (assembly)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0" y="35387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52160" y="4325112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4581144"/>
            <a:ext cx="146304" cy="146304"/>
          </a:xfrm>
          <a:prstGeom prst="ellipse">
            <a:avLst/>
          </a:prstGeom>
          <a:solidFill>
            <a:srgbClr val="E9A3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2511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01200" y="43251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9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taxa (1 read each)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52160" y="5111496"/>
            <a:ext cx="5669280" cy="658368"/>
          </a:xfrm>
          <a:prstGeom prst="rect">
            <a:avLst/>
          </a:prstGeom>
          <a:solidFill>
            <a:srgbClr val="E9F1F7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536752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511149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sourmash (viral gather)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01200" y="51114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viral species (0.29%)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52160" y="59436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sourmash's dedicated viral gather surfaces a faint list — abundance still negligible.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Metagenomic Benchmark  ·  UGA College of Public Health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NANOPORE  · 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Nanopore — 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762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9842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bacterial community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52160" y="198424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 Bacteria; dominant taxa match Illumina (A. temperans, U. suis, …).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10881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346704"/>
            <a:ext cx="457200" cy="457200"/>
          </a:xfrm>
          <a:prstGeom prst="ellipse">
            <a:avLst/>
          </a:prstGeom>
          <a:solidFill>
            <a:srgbClr val="E9A33B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host is visible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52160" y="3154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ranks Homo sapiens #2 (5,831 reads) — host background worth removing.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15384"/>
            <a:ext cx="10881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517136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43251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Viruses gone for most tools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852160" y="432511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viral reads for read-level Kraken2 — fewer viral reads than Illumina.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85816"/>
            <a:ext cx="10881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68756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1600200" y="549554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Assembly weakest here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52160" y="549554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1,208 Flye contigs → 320 species; long-read assembly is small &amp; error-prone.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Metagenomic Benchmark  ·  UGA College of Public Health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decisive difference: sequencing depth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4754880" cy="3291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~5.0M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(short)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2194560"/>
            <a:ext cx="4754880" cy="3291840"/>
          </a:xfrm>
          <a:prstGeom prst="rect">
            <a:avLst/>
          </a:prstGeom>
          <a:solidFill>
            <a:srgbClr val="13405C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971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~0.23M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492240" y="4480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(long)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715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A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22× deeper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depth gap drives most of the downstream differences.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pipeline, two platforms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628696"/>
              </p:ext>
            </p:extLst>
          </p:nvPr>
        </p:nvGraphicFramePr>
        <p:xfrm>
          <a:off x="621792" y="1572768"/>
          <a:ext cx="10881360" cy="438912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Illumina species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Nanopore species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Illumina virus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Nanopore virus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TaxProfiler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TaxTriage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GOTTCHA2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sourmash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 viral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viral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KrakenMetaReads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nf-core/mag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n/s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recovers ~3× more species (depth) and is the only platform where the trace virus is seen.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Illumina vs Nanopore — what differs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762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98424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core biology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0" y="198424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give the same ~99% bacterial community &amp; dominant taxa — conclusion is platform-independent.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10881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346704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31546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Illumina: more species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0" y="31546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~3× more species for read-level tools — a depth effect (~22× more reads).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15384"/>
            <a:ext cx="10881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517136"/>
            <a:ext cx="457200" cy="457200"/>
          </a:xfrm>
          <a:prstGeom prst="ellipse">
            <a:avLst/>
          </a:prstGeom>
          <a:solidFill>
            <a:srgbClr val="E9A33B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432511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Illumina: better virus detection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0" y="432511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7 viral reads vs Nanopore 0 (lower depth + higher per-read error).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85816"/>
            <a:ext cx="1088136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68756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1600200" y="5495544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Nanopore: pipeline limits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43600" y="549554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nf-core/mag unavailable; assembly methods weakest; host (human) more prominent.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sensitivity &amp; tool choice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low-abundance viruses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146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read-level k-mer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82112" y="21488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93008" y="2148840"/>
            <a:ext cx="2514600" cy="7772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21488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FracMinHash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21488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345936" y="2148840"/>
            <a:ext cx="2514600" cy="777240"/>
          </a:xfrm>
          <a:prstGeom prst="rect">
            <a:avLst/>
          </a:prstGeom>
          <a:solidFill>
            <a:srgbClr val="E9A33B"/>
          </a:solidFill>
          <a:ln/>
        </p:spPr>
      </p:sp>
      <p:sp>
        <p:nvSpPr>
          <p:cNvPr id="12" name="Text 10"/>
          <p:cNvSpPr/>
          <p:nvPr/>
        </p:nvSpPr>
        <p:spPr>
          <a:xfrm>
            <a:off x="6345936" y="21488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(GOTTCHA2)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87968" y="21488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9198864" y="2148840"/>
            <a:ext cx="2514600" cy="7772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9198864" y="21488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assembly-based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98864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10881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566160"/>
            <a:ext cx="128016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5661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Rare-pathogen / virus screening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356616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Read-level k-mer (TaxProfiler / TaxTriage) — or sourmash's viral gather.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535424"/>
            <a:ext cx="10881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535424"/>
            <a:ext cx="128016" cy="8686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53542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High-confidence community profile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12080" y="4535424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Assembly-based (contigs) — fewer false positives, but misses rare taxa.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504688"/>
            <a:ext cx="10881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504688"/>
            <a:ext cx="128016" cy="868680"/>
          </a:xfrm>
          <a:prstGeom prst="rect">
            <a:avLst/>
          </a:prstGeom>
          <a:solidFill>
            <a:srgbClr val="E9A33B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550468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High-precision, conservative calls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212080" y="5504688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GOTTCHA2 — reports only well-covered taxa.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 bacterial consensus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63040" y="23500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pipelines &amp; both platforms agree on a well-defined ~99% bacterial community.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Virus signal is method- and depth-limited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63040" y="34472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read-level k-mer / sourmash recover the trace virus — and only on Illumina.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Illumina wins for sensitive detection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63040" y="4544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~22× depth → more species and the only recoverable viral signal on this sample.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the tool to the question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63040" y="56418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→ read-level; confident profile → assembly; precision → GOTTCHA2.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 truth for the CDC sample → this is a cross-tool agreement / method comparison, not an F1 accuracy benchmark</a:t>
            </a:r>
            <a:r>
              <a:rPr lang="en-US" sz="1150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2350008"/>
            <a:ext cx="10058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Thanks.</a:t>
            </a:r>
            <a:endParaRPr lang="en-US" sz="5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536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1122</Words>
  <Application>Microsoft Office PowerPoint</Application>
  <PresentationFormat>Widescreen</PresentationFormat>
  <Paragraphs>271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等线</vt:lpstr>
      <vt:lpstr>Arial</vt:lpstr>
      <vt:lpstr>Calibri</vt:lpstr>
      <vt:lpstr>Calibri Light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CDC Metagenomic Taxonomic Classification — Platform &amp; Pipeline Benchmark</dc:title>
  <dc:subject>PptxGenJS Presentation</dc:subject>
  <dc:creator>Sihua Peng</dc:creator>
  <cp:lastModifiedBy>Sihua Peng</cp:lastModifiedBy>
  <cp:revision>12</cp:revision>
  <dcterms:created xsi:type="dcterms:W3CDTF">2026-07-01T15:22:50Z</dcterms:created>
  <dcterms:modified xsi:type="dcterms:W3CDTF">2026-07-01T15:44:39Z</dcterms:modified>
</cp:coreProperties>
</file>